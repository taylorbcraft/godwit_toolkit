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b3175b72d84529" /><Relationship Type="http://schemas.openxmlformats.org/officeDocument/2006/relationships/extended-properties" Target="/docProps/app.xml" Id="Rfdefdd080d9f45ea" /><Relationship Type="http://schemas.openxmlformats.org/officeDocument/2006/relationships/officeDocument" Target="/ppt/presentation.xml" Id="Ra1397a19da4744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7f1abc840346e1"/>
  </p:sldMasterIdLst>
  <p:notesMasterIdLst>
    <p:notesMasterId xmlns:r="http://schemas.openxmlformats.org/officeDocument/2006/relationships" r:id="Rfa9208cc29464dc7"/>
  </p:notesMasterIdLst>
  <p:sldIdLst>
    <p:sldId xmlns:r="http://schemas.openxmlformats.org/officeDocument/2006/relationships" id="256" r:id="R7735d57e067a445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c41fcbd6b64029" /><Relationship Type="http://schemas.openxmlformats.org/officeDocument/2006/relationships/slideMaster" Target="/ppt/slideMasters/slideMaster1.xml" Id="Rfc7f1abc840346e1" /><Relationship Type="http://schemas.openxmlformats.org/officeDocument/2006/relationships/notesMaster" Target="/ppt/notesMasters/notesMaster1.xml" Id="Rfa9208cc29464dc7" /><Relationship Type="http://schemas.openxmlformats.org/officeDocument/2006/relationships/presProps" Target="/ppt/presProps.xml" Id="Rd82661b6be4848d6" /><Relationship Type="http://schemas.openxmlformats.org/officeDocument/2006/relationships/tableStyles" Target="/ppt/tableStyles.xml" Id="Re316e140fd854eaa" /><Relationship Type="http://schemas.openxmlformats.org/officeDocument/2006/relationships/slide" Target="/ppt/slides/slide1.xml" Id="R7735d57e067a44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6fedb3c4ac40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7ce06dd2b84795" /><Relationship Type="http://schemas.openxmlformats.org/officeDocument/2006/relationships/notesMaster" Target="/ppt/notesMasters/notesMaster1.xml" Id="R0de19da86cbc40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Satellite Index Explorer screenshot.</a:t>
            </a:r>
          </a:p>
          <a:p xmlns:a="http://schemas.openxmlformats.org/drawingml/2006/main">
            <a:r>
              <a:t>- Project source: GEE_code/GPI Raster Export.js.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edf3cbe68c41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db3a4ef06d48ba" /><Relationship Type="http://schemas.openxmlformats.org/officeDocument/2006/relationships/slideLayout" Target="/ppt/slideLayouts/slideLayout1.xml" Id="Re105e5f76c6c46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05e5f76c6c46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03ca57d02040e5" /><Relationship Type="http://schemas.openxmlformats.org/officeDocument/2006/relationships/image" Target="/ppt/media/image.png" Id="R8f913a9970774959" /><Relationship Type="http://schemas.openxmlformats.org/officeDocument/2006/relationships/notesSlide" Target="/ppt/notesSlides/notesSlide1.xml" Id="R8090c08b9ac947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3C75A3F1-9A88-487D-9A58-A7460F4A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39A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39A2C"/>
                </a:solidFill>
                <a:latin typeface="Helvetica Neue"/>
                <a:ea typeface="Helvetica Neue"/>
                <a:cs typeface="Helvetica Neue"/>
              </a:rPr>
              <a:t>GOOGLE EARTH ENGINE APP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0F5AA24-91F9-4D13-B516-14A303A6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E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3E2C"/>
                </a:solidFill>
                <a:latin typeface="Helvetica Neue"/>
                <a:ea typeface="Helvetica Neue"/>
                <a:cs typeface="Helvetica Neue"/>
              </a:rPr>
              <a:t>Satellite Index Explorer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04E248F-0D83-4C7D-A238-01F91AD3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62075"/>
            <a:ext cx="638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664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56645B"/>
                </a:solidFill>
                <a:latin typeface="Helvetica Neue"/>
                <a:ea typeface="Helvetica Neue"/>
                <a:cs typeface="Helvetica Neue"/>
              </a:rPr>
              <a:t>Explore surface reflectance indices and export analysis-ready rasters</a:t>
            </a:r>
          </a:p>
        </p:txBody>
      </p:sp>
      <p:sp>
        <p:nvSpPr>
          <p:cNvPr id="4" name="marker-1">
            <a:extLst xmlns:a="http://schemas.openxmlformats.org/drawingml/2006/main">
              <a:ext uri="{FF2B5EF4-FFF2-40B4-BE49-F238E27FC236}">
                <a16:creationId xmlns:a16="http://schemas.microsoft.com/office/drawing/2014/main" id="{07E52D13-FE96-4387-9658-D4080A9D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eature-heading-1">
            <a:extLst xmlns:a="http://schemas.openxmlformats.org/drawingml/2006/main">
              <a:ext uri="{FF2B5EF4-FFF2-40B4-BE49-F238E27FC236}">
                <a16:creationId xmlns:a16="http://schemas.microsoft.com/office/drawing/2014/main" id="{241F54E5-ED16-4FF4-8204-2993AAE8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3E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3E2C"/>
                </a:solidFill>
                <a:latin typeface="Helvetica Neue"/>
                <a:ea typeface="Helvetica Neue"/>
                <a:cs typeface="Helvetica Neue"/>
              </a:rPr>
              <a:t>MULTI-SENSOR</a:t>
            </a:r>
          </a:p>
        </p:txBody>
      </p:sp>
      <p:sp>
        <p:nvSpPr>
          <p:cNvPr id="6" name="feature-description-1">
            <a:extLst xmlns:a="http://schemas.openxmlformats.org/drawingml/2006/main">
              <a:ext uri="{FF2B5EF4-FFF2-40B4-BE49-F238E27FC236}">
                <a16:creationId xmlns:a16="http://schemas.microsoft.com/office/drawing/2014/main" id="{41BB6D7D-0827-4168-ABF0-A7FFEE3B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4792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0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303B34"/>
                </a:solidFill>
                <a:latin typeface="Helvetica Neue"/>
                <a:ea typeface="Helvetica Neue"/>
                <a:cs typeface="Helvetica Neue"/>
              </a:rPr>
              <a:t>Sentinel-2 and Landsat 7, 8 &amp; 9 imagery</a:t>
            </a:r>
          </a:p>
        </p:txBody>
      </p:sp>
      <p:sp>
        <p:nvSpPr>
          <p:cNvPr id="7" name="marker-2">
            <a:extLst xmlns:a="http://schemas.openxmlformats.org/drawingml/2006/main">
              <a:ext uri="{FF2B5EF4-FFF2-40B4-BE49-F238E27FC236}">
                <a16:creationId xmlns:a16="http://schemas.microsoft.com/office/drawing/2014/main" id="{B732A0D8-0E29-4B74-97DF-320AB15F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9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eature-heading-2">
            <a:extLst xmlns:a="http://schemas.openxmlformats.org/drawingml/2006/main">
              <a:ext uri="{FF2B5EF4-FFF2-40B4-BE49-F238E27FC236}">
                <a16:creationId xmlns:a16="http://schemas.microsoft.com/office/drawing/2014/main" id="{A7EEF1CA-F6B1-4F7D-9440-7C5DCB12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3E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3E2C"/>
                </a:solidFill>
                <a:latin typeface="Helvetica Neue"/>
                <a:ea typeface="Helvetica Neue"/>
                <a:cs typeface="Helvetica Neue"/>
              </a:rPr>
              <a:t>SEVEN INDICES</a:t>
            </a:r>
          </a:p>
        </p:txBody>
      </p:sp>
      <p:sp>
        <p:nvSpPr>
          <p:cNvPr id="9" name="feature-description-2">
            <a:extLst xmlns:a="http://schemas.openxmlformats.org/drawingml/2006/main">
              <a:ext uri="{FF2B5EF4-FFF2-40B4-BE49-F238E27FC236}">
                <a16:creationId xmlns:a16="http://schemas.microsoft.com/office/drawing/2014/main" id="{9C24DC8F-6AAF-48CE-A880-855AF61D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2422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0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303B34"/>
                </a:solidFill>
                <a:latin typeface="Helvetica Neue"/>
                <a:ea typeface="Helvetica Neue"/>
                <a:cs typeface="Helvetica Neue"/>
              </a:rPr>
              <a:t>GPI, NDVI, EVI, NDWI, NDMI, SAVI and SWIR</a:t>
            </a:r>
          </a:p>
        </p:txBody>
      </p:sp>
      <p:sp>
        <p:nvSpPr>
          <p:cNvPr id="10" name="marker-3">
            <a:extLst xmlns:a="http://schemas.openxmlformats.org/drawingml/2006/main">
              <a:ext uri="{FF2B5EF4-FFF2-40B4-BE49-F238E27FC236}">
                <a16:creationId xmlns:a16="http://schemas.microsoft.com/office/drawing/2014/main" id="{CB852935-7069-4DAC-9797-524E8C7F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eature-heading-3">
            <a:extLst xmlns:a="http://schemas.openxmlformats.org/drawingml/2006/main">
              <a:ext uri="{FF2B5EF4-FFF2-40B4-BE49-F238E27FC236}">
                <a16:creationId xmlns:a16="http://schemas.microsoft.com/office/drawing/2014/main" id="{F04FD376-974F-43F2-BB3D-9E8CA3AC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24300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3E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3E2C"/>
                </a:solidFill>
                <a:latin typeface="Helvetica Neue"/>
                <a:ea typeface="Helvetica Neue"/>
                <a:cs typeface="Helvetica Neue"/>
              </a:rPr>
              <a:t>FLEXIBLE COMPOSITES</a:t>
            </a:r>
          </a:p>
        </p:txBody>
      </p:sp>
      <p:sp>
        <p:nvSpPr>
          <p:cNvPr id="12" name="feature-description-3">
            <a:extLst xmlns:a="http://schemas.openxmlformats.org/drawingml/2006/main">
              <a:ext uri="{FF2B5EF4-FFF2-40B4-BE49-F238E27FC236}">
                <a16:creationId xmlns:a16="http://schemas.microsoft.com/office/drawing/2014/main" id="{2DEA2CB0-BAA1-4B9C-8198-0CD9CB8D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0052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0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303B34"/>
                </a:solidFill>
                <a:latin typeface="Helvetica Neue"/>
                <a:ea typeface="Helvetica Neue"/>
                <a:cs typeface="Helvetica Neue"/>
              </a:rPr>
              <a:t>Least-cloudy scenes or monthly median mosaics</a:t>
            </a:r>
          </a:p>
        </p:txBody>
      </p:sp>
      <p:sp>
        <p:nvSpPr>
          <p:cNvPr id="13" name="marker-4">
            <a:extLst xmlns:a="http://schemas.openxmlformats.org/drawingml/2006/main">
              <a:ext uri="{FF2B5EF4-FFF2-40B4-BE49-F238E27FC236}">
                <a16:creationId xmlns:a16="http://schemas.microsoft.com/office/drawing/2014/main" id="{697E0D8D-EAD8-4CB7-B936-5177D632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eature-heading-4">
            <a:extLst xmlns:a="http://schemas.openxmlformats.org/drawingml/2006/main">
              <a:ext uri="{FF2B5EF4-FFF2-40B4-BE49-F238E27FC236}">
                <a16:creationId xmlns:a16="http://schemas.microsoft.com/office/drawing/2014/main" id="{2809BBCA-D7B2-4BC5-93D8-7F0BE327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3E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3E2C"/>
                </a:solidFill>
                <a:latin typeface="Helvetica Neue"/>
                <a:ea typeface="Helvetica Neue"/>
                <a:cs typeface="Helvetica Neue"/>
              </a:rPr>
              <a:t>READY TO USE</a:t>
            </a:r>
          </a:p>
        </p:txBody>
      </p:sp>
      <p:sp>
        <p:nvSpPr>
          <p:cNvPr id="15" name="feature-description-4">
            <a:extLst xmlns:a="http://schemas.openxmlformats.org/drawingml/2006/main">
              <a:ext uri="{FF2B5EF4-FFF2-40B4-BE49-F238E27FC236}">
                <a16:creationId xmlns:a16="http://schemas.microsoft.com/office/drawing/2014/main" id="{18E47600-C0BB-4C99-87A1-31DA578B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7682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0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303B34"/>
                </a:solidFill>
                <a:latin typeface="Helvetica Neue"/>
                <a:ea typeface="Helvetica Neue"/>
                <a:cs typeface="Helvetica Neue"/>
              </a:rPr>
              <a:t>Interactive clipping and native-resolution GeoTIFF export</a:t>
            </a:r>
          </a:p>
        </p:txBody>
      </p:sp>
      <p:sp>
        <p:nvSpPr>
          <p:cNvPr id="16" name="image-accent">
            <a:extLst xmlns:a="http://schemas.openxmlformats.org/drawingml/2006/main">
              <a:ext uri="{FF2B5EF4-FFF2-40B4-BE49-F238E27FC236}">
                <a16:creationId xmlns:a16="http://schemas.microsoft.com/office/drawing/2014/main" id="{376FC1D7-485F-4B40-A814-A9AB3057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1952625"/>
            <a:ext cx="5667375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44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913a9970774959"/>
          <a:srcRect xmlns:a="http://schemas.openxmlformats.org/drawingml/2006/main" l="10901" t="0" r="109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76900" y="1847850"/>
            <a:ext cx="5667375" cy="4076700"/>
          </a:xfrm>
          <a:prstGeom xmlns:a="http://schemas.openxmlformats.org/drawingml/2006/main" prst="rect">
            <a:avLst/>
          </a:prstGeom>
        </p:spPr>
      </p:pic>
      <p:sp>
        <p:nvSpPr>
          <p:cNvPr id="18" name="image-caption">
            <a:extLst xmlns:a="http://schemas.openxmlformats.org/drawingml/2006/main">
              <a:ext uri="{FF2B5EF4-FFF2-40B4-BE49-F238E27FC236}">
                <a16:creationId xmlns:a16="http://schemas.microsoft.com/office/drawing/2014/main" id="{B8209B02-E769-4EF6-BD55-02ABFC87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6076950"/>
            <a:ext cx="5667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i="1">
                <a:solidFill>
                  <a:srgbClr val="6B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i="1">
                <a:solidFill>
                  <a:srgbClr val="6B746D"/>
                </a:solidFill>
                <a:latin typeface="Helvetica Neue"/>
                <a:ea typeface="Helvetica Neue"/>
                <a:cs typeface="Helvetica Neue"/>
              </a:rPr>
              <a:t>Example: Landsat 9 SWIR monthly median mosaic over southern Spain</a:t>
            </a:r>
          </a:p>
        </p:txBody>
      </p:sp>
    </p:spTree>
    <p:extLst>
      <p:ext uri="{BB962C8B-B14F-4D97-AF65-F5344CB8AC3E}">
        <p14:creationId xmlns:p14="http://schemas.microsoft.com/office/powerpoint/2010/main" val="13054996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2026-08-31T00:34:14.4760000Z</dcterms:created>
  <dcterms:modified xsi:type="dcterms:W3CDTF">2026-08-31T00:34:14.4760000Z</dcterms:modified>
</coreProperties>
</file>